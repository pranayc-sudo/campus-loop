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ed Hat Mono Medium"/>
      <p:regular r:id="rId201314"/>
    </p:embeddedFont>
    <p:embeddedFont>
      <p:font typeface="Rethink Sans SemiBold"/>
      <p:regular r:id="rId201315"/>
    </p:embeddedFont>
    <p:embeddedFont>
      <p:font typeface="Rethink Sans Bold"/>
      <p:regular r:id="rId201316"/>
    </p:embeddedFont>
    <p:embeddedFont>
      <p:font typeface="Rethink Sans"/>
      <p:regular r:id="rId201317"/>
    </p:embeddedFont>
    <p:embeddedFont>
      <p:font typeface="Sofia Sans Extra Condensed Bold"/>
      <p:regular r:id="rId201318"/>
    </p:embeddedFont>
    <p:embeddedFont>
      <p:font typeface="Sofia Sans Extra Condensed Extra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CampusLoop: transforming institutional waste infrastructure from an unmonitored cost center into an intelligent, sensor-driven circular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core pain points: complete telemetry blackout, massive contamination rates exceeding 70%, and rigid collection logistics that waste manpower and fuel.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interlocking pillars: vision at disposal, geospatial routing in the backend, and student tokenomics closing the engagement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smart receptacle edge capabilities: 3-stream multi-class sorting, active contamination prevention with audio prompts, and fraud-resistant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IoT telemetry powers the operational dashboard, eliminating redundant truck rolls while improving overall campus hygiene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rationale: 40% fuel cut, 420 kg/day diverted to certified buyers, 6 labor hours recovered daily, fully paying off within 14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deep dive: React SPA frontend, Python FastAPI backend handling vision inference, and fault-tolerant LoRaWAN edge sensor mesh.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expansion from the 63-bin pilot to campus-wide deployment, university consortium recovery, and municipal ward licensing.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call to action: invite judges to test the live web app and digital twin at campus-loop-dg0.pages.dev/login.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&#65279;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&#65279;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5.xml.rels>&#65279;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6.xml.rels>&#65279;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B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1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9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B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589265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SOCIOTHON 2026 · PROJECT SHOWCASE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201819"/>
            <a:ext cx="5283068" cy="2663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600" spc="-38" kern="100" dirty="0">
                <a:solidFill>
                  <a:srgbClr val="F2F5EA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CAMPUSLOOP —</a:t>
            </a:r>
            <a:endParaRPr lang="en-US" sz="76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7600" spc="-38" kern="100" dirty="0">
                <a:solidFill>
                  <a:srgbClr val="F2F5EA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CAMPUS WASTE</a:t>
            </a:r>
            <a:endParaRPr lang="en-US" sz="76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7600" spc="-38" kern="100" dirty="0">
                <a:solidFill>
                  <a:srgbClr val="F2F5EA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INTELLIGENCE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09585" y="4987528"/>
            <a:ext cx="5283068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"Every bin is an intelligent sensor, every scrap a valuable asset."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5821759"/>
            <a:ext cx="5283068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D93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Autonomous multi-class bin classification, real-time campus digital twin, and circular proof-of-sort student tokenomics.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THE STATUS QUO · SYSTEMIC INEFFICIENCY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835"/>
            <a:ext cx="10972526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CAMPUSES FLY BLIND ON WASTE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09585" y="2355652"/>
            <a:ext cx="565136" cy="565150"/>
          </a:xfrm>
          <a:prstGeom prst="ellipse">
            <a:avLst/>
          </a:prstGeom>
          <a:noFill/>
          <a:ln w="25399">
            <a:solidFill>
              <a:srgbClr val="EDE7DD">
                <a:alpha val="22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56" y="2523927"/>
            <a:ext cx="228594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167118"/>
            <a:ext cx="3428914" cy="632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600" spc="-38" kern="100" dirty="0">
                <a:solidFill>
                  <a:srgbClr val="000000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0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609585" y="3816548"/>
            <a:ext cx="342891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INSTITUTIONAL BLINDSPOTS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09585" y="4210248"/>
            <a:ext cx="342891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Metric tons generated daily with zero real-time weight or volume stream visibility across campus facilities.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95688" y="2355652"/>
            <a:ext cx="565136" cy="565150"/>
          </a:xfrm>
          <a:prstGeom prst="ellipse">
            <a:avLst/>
          </a:prstGeom>
          <a:noFill/>
          <a:ln w="25399">
            <a:solidFill>
              <a:srgbClr val="EDE7DD">
                <a:alpha val="22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958" y="2523927"/>
            <a:ext cx="228594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95688" y="3167118"/>
            <a:ext cx="3200320" cy="632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600" spc="-38" kern="100" dirty="0">
                <a:solidFill>
                  <a:srgbClr val="000000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&gt;70%</a:t>
            </a:r>
            <a:endParaRPr lang="en-US" sz="7600" dirty="0"/>
          </a:p>
        </p:txBody>
      </p:sp>
      <p:sp>
        <p:nvSpPr>
          <p:cNvPr id="12" name="Text 8"/>
          <p:cNvSpPr/>
          <p:nvPr/>
        </p:nvSpPr>
        <p:spPr>
          <a:xfrm>
            <a:off x="4495688" y="3816548"/>
            <a:ext cx="3200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CONTAMINATION DISASTER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495688" y="4210248"/>
            <a:ext cx="320032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Clean recyclables routed directly into general landfill waste due to improper manual sorting at disposal points.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53196" y="2355652"/>
            <a:ext cx="565136" cy="565150"/>
          </a:xfrm>
          <a:prstGeom prst="ellipse">
            <a:avLst/>
          </a:prstGeom>
          <a:noFill/>
          <a:ln w="25399">
            <a:solidFill>
              <a:srgbClr val="EDE7DD">
                <a:alpha val="22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467" y="2523927"/>
            <a:ext cx="228594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53196" y="3167118"/>
            <a:ext cx="3428914" cy="632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600" spc="-38" kern="100" dirty="0">
                <a:solidFill>
                  <a:srgbClr val="000000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40%</a:t>
            </a:r>
            <a:endParaRPr lang="en-US" sz="7600" dirty="0"/>
          </a:p>
        </p:txBody>
      </p:sp>
      <p:sp>
        <p:nvSpPr>
          <p:cNvPr id="17" name="Text 12"/>
          <p:cNvSpPr/>
          <p:nvPr/>
        </p:nvSpPr>
        <p:spPr>
          <a:xfrm>
            <a:off x="8153196" y="3816548"/>
            <a:ext cx="342891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STATIC COLLECTION DRAG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153196" y="4210248"/>
            <a:ext cx="342891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Fixed truck routes empty half-empty bins while overflow hotspots fester, needlessly burning fleet fuel and budget.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02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60743" y="2355652"/>
            <a:ext cx="12700" cy="2959497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7918252" y="2355652"/>
            <a:ext cx="12700" cy="2959497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SYSTEM ARCHITECTURE · CLOSED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835"/>
            <a:ext cx="10972526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A CLOSED-LOOP CIRCULAR ECOSYSTEM FOR CAMPUSES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1612801"/>
            <a:ext cx="10972526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Hardware classification, real-time spatial telemetry, and verified student incentive loops connect to eliminate disposal loss.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950766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01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813" y="2907903"/>
            <a:ext cx="476238" cy="476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3813" y="3565128"/>
            <a:ext cx="304008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AI COMPUTER VISION SCANNER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23813" y="3958828"/>
            <a:ext cx="3040086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Hardware-level edge inference sorts waste streams and flags contamination at the instant of disposal, for instant sorting guidance.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368691" y="2950766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02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919" y="2907903"/>
            <a:ext cx="476238" cy="4762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2919" y="3565128"/>
            <a:ext cx="304008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IOT CAMPUS DIGITAL TWIN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782919" y="3958828"/>
            <a:ext cx="3040086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Telemetry mesh maps spatial fill pressure and dynamically dispatches custodial collection routes for dynamic routing and fill telemetry.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27797" y="2950766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03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025" y="2907903"/>
            <a:ext cx="476238" cy="4762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2025" y="3565128"/>
            <a:ext cx="304008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PROOF-OF-SORT TOKENOMICS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542025" y="3958828"/>
            <a:ext cx="3040086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Rewarding students with redeemable campus credits. Verified disposal transactions reward student IDs with redeemable campus dining and store credits.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670543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PILLAR 01 · POINT OF DISPOSAL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835"/>
            <a:ext cx="6095848" cy="11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F2F5EA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FEATURE 01: AI VISION SORTS AT THE BIN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383631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85714" y="2367756"/>
            <a:ext cx="571971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2F5EA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EDGE CLASSIFICATION INTO 3 STREAMS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5714" y="2761456"/>
            <a:ext cx="571971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Organic (compostable), recyclable (dry recoverable), and reject streams separated autonomously in under 300ms.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3644106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5714" y="3628231"/>
            <a:ext cx="571971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2F5EA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CONTAMINATION GUARDRAILS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5714" y="4021931"/>
            <a:ext cx="571971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Flags mixed and dirty items such as unwashed containers via real-time multi-lingual voice and visual guidance.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4904581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5714" y="4888706"/>
            <a:ext cx="571971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2F5EA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LIVE PROOF-OF-SORT VERIFICATION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5714" y="5282406"/>
            <a:ext cx="571971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Validates item integrity and user ID confirmation before issuing tokens, systematically preventing gaming or fraud.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9585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04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9585" y="3459956"/>
            <a:ext cx="6095848" cy="1270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9585" y="4720431"/>
            <a:ext cx="6095848" cy="1270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670543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PILLAR 02 · TELEMETRY &amp; LOGISTICS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835"/>
            <a:ext cx="6095848" cy="11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F2F5EA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FEATURE 02: A LIVE DIGITAL TWIN DISPATCHES TRUCKS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282031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B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85714" y="2266156"/>
            <a:ext cx="571971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2F5EA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3D CAMPUS HEATMAP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5714" y="2659856"/>
            <a:ext cx="571971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Fill level, temperature and tilt across hostel and academic zones.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3266281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B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5714" y="3250406"/>
            <a:ext cx="571971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2F5EA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PREDICTIVE AI ROUTING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5714" y="3644106"/>
            <a:ext cx="571971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Replaces fixed schedules, cutting route distance and fuel by 40%.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4526756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B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5714" y="4510881"/>
            <a:ext cx="571971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F2F5EA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COMPOSITE HEALTH SCORE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5714" y="4904581"/>
            <a:ext cx="571971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Campus hygiene index from fill pressure and sensor uptime.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9585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05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9585" y="3082131"/>
            <a:ext cx="6095848" cy="1270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9585" y="4342606"/>
            <a:ext cx="6095848" cy="1270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47065"/>
            <a:ext cx="6095848" cy="11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FEATURE 03: SORTING EARNS GREEN PTS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1948061"/>
            <a:ext cx="609584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Scan university ID, dispose of sorted waste, earn verified Green PTS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Redeem for cafeteria meals, campus store discounts and EV shuttle credits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Circular marketplace for upcycled goods and peer-to-peer exchange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FINANCIAL VALIDATION · 63-BIN PILOT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835"/>
            <a:ext cx="10972526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PAYBACK IN UNDER 14 MONTHS</a:t>
            </a:r>
            <a:endParaRPr lang="en-US" sz="4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80791"/>
            <a:ext cx="6603835" cy="381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766991"/>
            <a:ext cx="694920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Modeled across a 63-bin pilot cluster serving university residential and dining zones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87386" y="2700393"/>
            <a:ext cx="3794725" cy="632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600" spc="-38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14 MO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7787386" y="3457079"/>
            <a:ext cx="379472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maximum capital amortisation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87386" y="3848199"/>
            <a:ext cx="379472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420 kg/day of clean recyclables diverted from municipal landfill tipping fees to certified recycling off-takers generates recurring feedstock revenue, ensuring long-term net positive cash flow.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07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52442" y="1612801"/>
            <a:ext cx="12700" cy="4635599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7065"/>
            <a:ext cx="10972526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ARCHITECTURE BUILT FOR THE EDGE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09585" y="3286740"/>
            <a:ext cx="3428914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FRONTEND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3780433"/>
            <a:ext cx="34289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Responsive React SPA, Tailwind CSS, Recharts operational telemetry.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95688" y="3148628"/>
            <a:ext cx="3200320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BACKEND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495688" y="3642320"/>
            <a:ext cx="320032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Python FastAPI engine, computer vision inference pipeline, automated ESG audit engine.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53196" y="3286740"/>
            <a:ext cx="3428914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b="1" spc="28" kern="100" dirty="0">
                <a:solidFill>
                  <a:srgbClr val="FFFFFF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EDGE AND SENSOR MESH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153196" y="3780433"/>
            <a:ext cx="34289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Micro-telemetry nodes, offline-first fallback.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60743" y="1355030"/>
            <a:ext cx="12700" cy="489337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18252" y="1355030"/>
            <a:ext cx="12700" cy="489337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GROWTH ROADMAP · PHASED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835"/>
            <a:ext cx="10972526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FROM 63 BINS TO CITY SCALE IN FOUR PHASES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645767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912467"/>
            <a:ext cx="2514537" cy="19050"/>
          </a:xfrm>
          <a:prstGeom prst="rect">
            <a:avLst/>
          </a:prstGeom>
          <a:solidFill>
            <a:srgbClr val="D1FF4D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052802"/>
            <a:ext cx="251453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PHASE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585" y="3313113"/>
            <a:ext cx="25145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HOSTEL PILOT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3706812"/>
            <a:ext cx="251453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10 high-density zones with 63 connected smart bins validating student sort habits.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8914" y="2645767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28914" y="2912467"/>
            <a:ext cx="2514537" cy="19050"/>
          </a:xfrm>
          <a:prstGeom prst="rect">
            <a:avLst/>
          </a:prstGeom>
          <a:solidFill>
            <a:srgbClr val="D1FF4D"/>
          </a:solidFill>
          <a:ln/>
        </p:spPr>
      </p:sp>
      <p:sp>
        <p:nvSpPr>
          <p:cNvPr id="11" name="Text 9"/>
          <p:cNvSpPr/>
          <p:nvPr/>
        </p:nvSpPr>
        <p:spPr>
          <a:xfrm>
            <a:off x="3428914" y="3052802"/>
            <a:ext cx="251453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PHASE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8914" y="3313113"/>
            <a:ext cx="25145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CAMPUS-WIDE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8914" y="3706812"/>
            <a:ext cx="251453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Comprehensive rollout across academic blocks, science research labs, and central dining halls.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48244" y="2645767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48244" y="2912467"/>
            <a:ext cx="2514537" cy="19050"/>
          </a:xfrm>
          <a:prstGeom prst="rect">
            <a:avLst/>
          </a:prstGeom>
          <a:solidFill>
            <a:srgbClr val="D1FF4D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244" y="3052802"/>
            <a:ext cx="251453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PHASE 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48244" y="3313113"/>
            <a:ext cx="25145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CONSORTIUM HUB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48244" y="3706812"/>
            <a:ext cx="251453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Multi-university cluster pooling volume into a shared Material Recovery Facility.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67573" y="2645767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D1FF4D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0"/>
              </a:rPr>
              <a:t>04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67573" y="2912467"/>
            <a:ext cx="2514537" cy="19050"/>
          </a:xfrm>
          <a:prstGeom prst="rect">
            <a:avLst/>
          </a:prstGeom>
          <a:solidFill>
            <a:srgbClr val="D1FF4D"/>
          </a:solidFill>
          <a:ln/>
        </p:spPr>
      </p:sp>
      <p:sp>
        <p:nvSpPr>
          <p:cNvPr id="21" name="Text 19"/>
          <p:cNvSpPr/>
          <p:nvPr/>
        </p:nvSpPr>
        <p:spPr>
          <a:xfrm>
            <a:off x="9067573" y="3052802"/>
            <a:ext cx="251453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PHASE 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67573" y="3313113"/>
            <a:ext cx="25145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b="1" spc="2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0"/>
              </a:rPr>
              <a:t>CIVIC SCALE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67573" y="3706812"/>
            <a:ext cx="251453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Municipal ward infrastructure licensing and SaaS urban sanitation analytics dashboard.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585" y="6035179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Structured trajectory expanding from verified campus nodes to regional municipal waste intelligence.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589265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DEPLOYMENT READY ·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678539"/>
            <a:ext cx="5283068" cy="2663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600" spc="-38" kern="100" dirty="0">
                <a:solidFill>
                  <a:srgbClr val="F2F5EA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CLOSING THE LOOP ON CAMPUS WASTE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09585" y="4464248"/>
            <a:ext cx="5283068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Interactive digital twin and edge scanner operational right now.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5279430"/>
            <a:ext cx="52830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5EA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Experience the live web app and inspection console: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5EA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0"/>
              </a:rPr>
              <a:t>https://campus-loop-dg0.pages.dev/login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6035080"/>
            <a:ext cx="58926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D93"/>
                </a:solidFill>
                <a:latin typeface="Rethink Sans" pitchFamily="34" charset="0"/>
                <a:ea typeface="Rethink Sans" pitchFamily="34" charset="-122"/>
                <a:cs typeface="Rethink Sans" pitchFamily="34" charset="0"/>
              </a:rPr>
              <a:t>Sociothon 2026 Showcase · Autonomous Waste Intelligence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2026-10-23T21:15:22Z</dcterms:created>
  <dcterms:modified xsi:type="dcterms:W3CDTF">2026-10-23T21:15:22Z</dcterms:modified>
</cp:coreProperties>
</file>